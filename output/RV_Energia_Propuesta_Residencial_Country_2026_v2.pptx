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_house.jpg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743200"/>
            <a:ext cx="7772400" cy="4114800"/>
          </a:xfrm>
          <a:prstGeom prst="rect">
            <a:avLst/>
          </a:prstGeom>
          <a:solidFill>
            <a:srgbClr val="0B0E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02920"/>
            <a:ext cx="1280160" cy="6773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03920" y="5943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spc="40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PROPUESTA RESIDENCIAL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868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30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EDICIÓN COUNTRY · ZONA NORTE GBA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0058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0" b="1">
                <a:solidFill>
                  <a:srgbClr val="F5F5F0"/>
                </a:solidFill>
                <a:latin typeface="Outfit"/>
                <a:ea typeface="Outfit"/>
                <a:cs typeface="Outfit"/>
              </a:rPr>
              <a:t>Tu casa.</a:t>
            </a:r>
          </a:p>
          <a:p>
            <a:pPr algn="l">
              <a:lnSpc>
                <a:spcPct val="115000"/>
              </a:lnSpc>
            </a:pPr>
            <a:r>
              <a:rPr sz="8000" b="1">
                <a:solidFill>
                  <a:srgbClr val="F5F5F0"/>
                </a:solidFill>
                <a:latin typeface="Outfit"/>
                <a:ea typeface="Outfit"/>
                <a:cs typeface="Outfit"/>
              </a:rPr>
              <a:t>Tu propia central </a:t>
            </a:r>
            <a:r>
              <a:rPr sz="8000" b="1">
                <a:solidFill>
                  <a:srgbClr val="AEFF00"/>
                </a:solidFill>
                <a:latin typeface="Outfit"/>
                <a:ea typeface="Outfit"/>
                <a:cs typeface="Outfit"/>
              </a:rPr>
              <a:t>de energía.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40680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Propuesta integral llave en mano para incorporar energía solar fotovoltaica</a:t>
            </a:r>
          </a:p>
          <a:p>
            <a:pPr algn="l">
              <a:lnSpc>
                <a:spcPct val="150000"/>
              </a:lnSpc>
            </a:pPr>
            <a:r>
              <a:rPr sz="1200" b="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en tu vivienda — pensada para quien busca tranquilidad, eficiencia y un activo que se paga solo.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6355080"/>
            <a:ext cx="813816" cy="292608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81381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300">
                <a:solidFill>
                  <a:srgbClr val="F5F5F0"/>
                </a:solidFill>
                <a:latin typeface="Outfit"/>
                <a:ea typeface="Outfit"/>
                <a:cs typeface="Outfit"/>
              </a:rPr>
              <a:t>RV ENERGÍA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91056" y="6355080"/>
            <a:ext cx="1513332" cy="292608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91056" y="6355080"/>
            <a:ext cx="15133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300">
                <a:solidFill>
                  <a:srgbClr val="F5F5F0"/>
                </a:solidFill>
                <a:latin typeface="Outfit"/>
                <a:ea typeface="Outfit"/>
                <a:cs typeface="Outfit"/>
              </a:rPr>
              <a:t>78 AÑOS DE HISTORIA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1548" y="6355080"/>
            <a:ext cx="1513332" cy="292608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1548" y="6355080"/>
            <a:ext cx="151333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300">
                <a:solidFill>
                  <a:srgbClr val="F5F5F0"/>
                </a:solidFill>
                <a:latin typeface="Outfit"/>
                <a:ea typeface="Outfit"/>
                <a:cs typeface="Outfit"/>
              </a:rPr>
              <a:t>TIER 1 BLOOMBERGNEF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6355080"/>
            <a:ext cx="1202436" cy="292608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6355080"/>
            <a:ext cx="1202436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spc="300">
                <a:solidFill>
                  <a:srgbClr val="F5F5F0"/>
                </a:solidFill>
                <a:latin typeface="Outfit"/>
                <a:ea typeface="Outfit"/>
                <a:cs typeface="Outfit"/>
              </a:rPr>
              <a:t>EDICIÓN COUNTRY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28016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4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CAPÍTULO 01 · QUIÉNES SOMOS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7315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Radio Victoria,</a:t>
            </a:r>
          </a:p>
          <a:p>
            <a:pPr algn="l">
              <a:lnSpc>
                <a:spcPct val="115000"/>
              </a:lnSpc>
            </a:pPr>
            <a:r>
              <a:rPr sz="56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ahora </a:t>
            </a:r>
            <a:r>
              <a:rPr sz="5600" b="1">
                <a:solidFill>
                  <a:srgbClr val="2952D3"/>
                </a:solidFill>
                <a:latin typeface="Outfit"/>
                <a:ea typeface="Outfit"/>
                <a:cs typeface="Outfit"/>
              </a:rPr>
              <a:t>solar.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78 AÑOS HACIENDO INDUSTRIA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0"/>
            <a:ext cx="68580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RV Energía es la división solar de Radio Victoria Argentina S.A. — una compañía nacional con casi ocho décadas en electrónica, logística y operaciones técnicas en todo el país. Hoy operamos en tres frentes: distribución mayorista a instaladores, proyectos EPC llave en mano para industria y agro, y kits residenciales para clientes finales — respaldados por logística federal e ingeniería propia.</a:t>
            </a:r>
          </a:p>
        </p:txBody>
      </p:sp>
      <p:pic>
        <p:nvPicPr>
          <p:cNvPr id="7" name="Picture 6" descr="panel_sk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371600"/>
            <a:ext cx="3749039" cy="457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943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952D3"/>
                </a:solidFill>
                <a:latin typeface="Outfit"/>
                <a:ea typeface="Outfit"/>
                <a:cs typeface="Outfit"/>
              </a:rPr>
              <a:t>1947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3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FUNDACIÓN · RADIO VICTORIA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5943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952D3"/>
                </a:solidFill>
                <a:latin typeface="Outfit"/>
                <a:ea typeface="Outfit"/>
                <a:cs typeface="Outfit"/>
              </a:rPr>
              <a:t>33.000 m²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6446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3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OPERACIÓN INDUSTRIAL FEDERAL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59436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2952D3"/>
                </a:solidFill>
                <a:latin typeface="Outfit"/>
                <a:ea typeface="Outfit"/>
                <a:cs typeface="Outfit"/>
              </a:rPr>
              <a:t>24/7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6446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3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MONITOREO REMOTO · SOPORTE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3175">
            <a:solidFill>
              <a:srgbClr val="E3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RV ENERGÍA · RADIO VICTORIA ARGENTINA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28016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4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CAPÍTULO 02 · ALIADOS TECNOLÓGICOS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Top mundial en cada </a:t>
            </a:r>
            <a:r>
              <a:rPr sz="4800" b="1">
                <a:solidFill>
                  <a:srgbClr val="2952D3"/>
                </a:solidFill>
                <a:latin typeface="Outfit"/>
                <a:ea typeface="Outfit"/>
                <a:cs typeface="Outfit"/>
              </a:rPr>
              <a:t>componente.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Trabajamos exclusivamente con fabricantes Tier 1 BloombergNEF — la clasificación financiera más alta del mercado solar global, reservada a los proveedores con mayor solvencia y trayectoria.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794760"/>
            <a:ext cx="5532120" cy="2468880"/>
          </a:xfrm>
          <a:prstGeom prst="roundRect">
            <a:avLst>
              <a:gd name="adj" fmla="val 4000"/>
            </a:avLst>
          </a:prstGeom>
          <a:noFill/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0690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TCL Solar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480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3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PANELES FOTOVOLTAICOS · CHINA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0060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Uno de los mayores fabricantes del mundo. Tecnología N-Type TOPCon Bifacial — más eficiencia por m², más vida útil.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53212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3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PANEL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553212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585 Wp · TOPCon Bifacial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779008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3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GARANTÍA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5779008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15 años producto · 30 potencia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02589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3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RESISTENCIA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602589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IP68 · −40 °C a +85 °C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794760"/>
            <a:ext cx="5532120" cy="2468880"/>
          </a:xfrm>
          <a:prstGeom prst="roundRect">
            <a:avLst>
              <a:gd name="adj" fmla="val 4000"/>
            </a:avLst>
          </a:prstGeom>
          <a:noFill/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406908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GoodWe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480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3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INVERSORES Y BATERÍAS · CHINA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480060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Líder global en inversores solares e híbridos. Monitoreo SEMS+ 24/7 vía app + baterías LiFePO4.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553212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3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INVERSORES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5532120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XS · MS · ES · ET · SDT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5779008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3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BATERÍAS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5779008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Lynx U (LV) · Lynx D (HV)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6025896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3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GARANTÍA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6025896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10 años (extensible)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3175">
            <a:solidFill>
              <a:srgbClr val="E3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CAPÍTULO 02 · ALIADOS TECNOLÓGICOS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9848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nel_field.jpg"/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6858000" y="0"/>
            <a:ext cx="5330952" cy="6858000"/>
          </a:xfrm>
          <a:prstGeom prst="rect">
            <a:avLst/>
          </a:prstGeom>
        </p:spPr>
      </p:pic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1280160" cy="6773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40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CAPÍTULO 03 · CÓMO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>
                <a:solidFill>
                  <a:srgbClr val="F5F5F0"/>
                </a:solidFill>
                <a:latin typeface="Outfit"/>
                <a:ea typeface="Outfit"/>
                <a:cs typeface="Outfit"/>
              </a:rPr>
              <a:t>El recorrido de la </a:t>
            </a:r>
            <a:r>
              <a:rPr sz="4800" b="1">
                <a:solidFill>
                  <a:srgbClr val="AEFF00"/>
                </a:solidFill>
                <a:latin typeface="Outfit"/>
                <a:ea typeface="Outfit"/>
                <a:cs typeface="Outfit"/>
              </a:rPr>
              <a:t>energía.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Del techo al enchufe, en menos de un segundo.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611880"/>
            <a:ext cx="2697480" cy="192024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5F5F0"/>
                </a:solidFill>
                <a:latin typeface="Outfit"/>
                <a:ea typeface="Outfit"/>
                <a:cs typeface="Outfit"/>
              </a:rPr>
              <a:t>Sol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30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FUENTE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Una radiación gratis, todos los días, todo el año.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50692" y="4389120"/>
            <a:ext cx="1097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3611880"/>
            <a:ext cx="2697480" cy="192024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0168" y="3840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41605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5F5F0"/>
                </a:solidFill>
                <a:latin typeface="Outfit"/>
                <a:ea typeface="Outfit"/>
                <a:cs typeface="Outfit"/>
              </a:rPr>
              <a:t>Panel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46177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30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DC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489204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Convierte la luz en corriente continua.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7900" y="4389120"/>
            <a:ext cx="1097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3611880"/>
            <a:ext cx="2697480" cy="192024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37376" y="3840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41605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5F5F0"/>
                </a:solidFill>
                <a:latin typeface="Outfit"/>
                <a:ea typeface="Outfit"/>
                <a:cs typeface="Outfit"/>
              </a:rPr>
              <a:t>Inversor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46177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30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DC → 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489204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Pasa DC a AC 220 V — la misma de tu enchufe.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5108" y="4389120"/>
            <a:ext cx="10972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0264" y="3611880"/>
            <a:ext cx="2697480" cy="192024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44584" y="384048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41605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5F5F0"/>
                </a:solidFill>
                <a:latin typeface="Outfit"/>
                <a:ea typeface="Outfit"/>
                <a:cs typeface="Outfit"/>
              </a:rPr>
              <a:t>Tu casa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584" y="461772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30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CONSUMO + 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44584" y="489204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Lo sobrante se inyecta a la red y descuenta tu factura.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669280"/>
            <a:ext cx="3648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30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MIENTRAS HAY SOL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97880"/>
            <a:ext cx="36484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5F5F0"/>
                </a:solidFill>
                <a:latin typeface="Outfit"/>
                <a:ea typeface="Outfit"/>
                <a:cs typeface="Outfit"/>
              </a:rPr>
              <a:t>Generás y consumís.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217920"/>
            <a:ext cx="3648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Los electrodomésticos toman energía directo del techo. Cero costo en boleta.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88536" y="5669280"/>
            <a:ext cx="3648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30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SI GENERÁS DE MÁS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88536" y="5897880"/>
            <a:ext cx="36484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5F5F0"/>
                </a:solidFill>
                <a:latin typeface="Outfit"/>
                <a:ea typeface="Outfit"/>
                <a:cs typeface="Outfit"/>
              </a:rPr>
              <a:t>Inyectás a la red.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88536" y="6217920"/>
            <a:ext cx="3648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El excedente vuelve a la red. La distribuidora te lo descuenta.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28432" y="5669280"/>
            <a:ext cx="3648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30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DE NOCHE O NUBLADO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28432" y="5897880"/>
            <a:ext cx="36484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5F5F0"/>
                </a:solidFill>
                <a:latin typeface="Outfit"/>
                <a:ea typeface="Outfit"/>
                <a:cs typeface="Outfit"/>
              </a:rPr>
              <a:t>Tomás de red o batería.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28432" y="6217920"/>
            <a:ext cx="364845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Consumís de la red, o de tu batería si el kit es híbrido.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3175">
            <a:solidFill>
              <a:srgbClr val="232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CAPÍTULO 03 · CÓMO FUNCIONA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28016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4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CAPÍTULO 04 · COMPONENTES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6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¿Qué hay detrás </a:t>
            </a:r>
            <a:r>
              <a:rPr sz="4600" b="1">
                <a:solidFill>
                  <a:srgbClr val="2952D3"/>
                </a:solidFill>
                <a:latin typeface="Outfit"/>
                <a:ea typeface="Outfit"/>
                <a:cs typeface="Outfit"/>
              </a:rPr>
              <a:t>del sistema?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803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Cinco partes. Una misma ingeniería.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520440"/>
            <a:ext cx="2203704" cy="219456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749040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23360"/>
            <a:ext cx="19293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Panel solar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63440"/>
            <a:ext cx="1929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2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TCL · 585 WP TOPCON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37760"/>
            <a:ext cx="192938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Capta la luz del sol y la convierte en electricidad. Va sobre el techo, en estructura de acero.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43784" y="3520440"/>
            <a:ext cx="2203704" cy="219456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2384" y="3749040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2384" y="4023360"/>
            <a:ext cx="19293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Inversor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4663440"/>
            <a:ext cx="1929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2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GOODWE · MONO/TRIFÁSICO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72384" y="4937760"/>
            <a:ext cx="192938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El cerebro del sistema. Convierte DC en AC y administra el flujo entre techo, red y batería.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38928" y="3520440"/>
            <a:ext cx="2203704" cy="219456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67528" y="3749040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8" y="4023360"/>
            <a:ext cx="19293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Batería (opcional)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4663440"/>
            <a:ext cx="1929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2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LIFEPO4 · LYNX U / LYNX 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67528" y="4937760"/>
            <a:ext cx="192938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Guarda energía para usar de noche o si se corta la luz. Solo en kits híbridos.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34072" y="3520440"/>
            <a:ext cx="2203704" cy="219456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62672" y="3749040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2" y="4023360"/>
            <a:ext cx="19293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Smart Meter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4663440"/>
            <a:ext cx="1929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2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SMART ENERGY CONTROLLER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2" y="4937760"/>
            <a:ext cx="192938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Mide cuánto generás, consumís e inyectás. La caja registradora del sistema.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29216" y="3520440"/>
            <a:ext cx="2203704" cy="219456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57816" y="3749040"/>
            <a:ext cx="22037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57816" y="4023360"/>
            <a:ext cx="192938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Estructura + cables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57816" y="4663440"/>
            <a:ext cx="1929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2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STEEL FRAME · 1500 V DC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7816" y="4937760"/>
            <a:ext cx="1929384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Soportes de acero, cables, conectores y protecciones eléctricas.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897880"/>
            <a:ext cx="11091672" cy="502920"/>
          </a:xfrm>
          <a:prstGeom prst="roundRect">
            <a:avLst>
              <a:gd name="adj" fmla="val 30000"/>
            </a:avLst>
          </a:prstGeom>
          <a:solidFill>
            <a:srgbClr val="12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897880"/>
            <a:ext cx="100584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FAFAF7"/>
                </a:solidFill>
                <a:latin typeface="Outfit"/>
                <a:ea typeface="Outfit"/>
                <a:cs typeface="Outfit"/>
              </a:rPr>
              <a:t>BONUS · App SEMS+ en tu celular · 24/7 · sin costo · incluida en todos los kits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3175">
            <a:solidFill>
              <a:srgbClr val="E3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CAPÍTULO 04 · COMPONENTES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28016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4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CAPÍTULO 05 · ARQUITECTURAS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Tres formas de conectar con el </a:t>
            </a:r>
            <a:r>
              <a:rPr sz="4400" b="1">
                <a:solidFill>
                  <a:srgbClr val="2952D3"/>
                </a:solidFill>
                <a:latin typeface="Outfit"/>
                <a:ea typeface="Outfit"/>
                <a:cs typeface="Outfit"/>
              </a:rPr>
              <a:t>sol.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Esta es la decisión más importante del proyecto.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520440"/>
            <a:ext cx="3694176" cy="2743200"/>
          </a:xfrm>
          <a:prstGeom prst="roundRect">
            <a:avLst>
              <a:gd name="adj" fmla="val 4000"/>
            </a:avLst>
          </a:prstGeom>
          <a:noFill/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49040"/>
            <a:ext cx="36941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4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ON-GRID · SIN BATERÍA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33284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Autoconsumo puro.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663440"/>
            <a:ext cx="33284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Conectado a la red, le vendés los excedentes. Sin baterías — la opción más rentable, payback más corto.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4864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3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IDEAL 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548640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Red estable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9671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3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CUBRE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569671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Consumo diurno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90702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3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RESPALDO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590702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No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88536" y="3520440"/>
            <a:ext cx="3694176" cy="2743200"/>
          </a:xfrm>
          <a:prstGeom prst="roundRect">
            <a:avLst>
              <a:gd name="adj" fmla="val 4000"/>
            </a:avLst>
          </a:prstGeom>
          <a:solidFill>
            <a:srgbClr val="12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2856" y="3749040"/>
            <a:ext cx="36941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40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HÍBRIDO · RED + BATERÍA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4023360"/>
            <a:ext cx="33284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FAFAF7"/>
                </a:solidFill>
                <a:latin typeface="Outfit"/>
                <a:ea typeface="Outfit"/>
                <a:cs typeface="Outfit"/>
              </a:rPr>
              <a:t>Autoconsumo con respaldo.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4663440"/>
            <a:ext cx="33284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B0B6BE"/>
                </a:solidFill>
                <a:latin typeface="Outfit"/>
                <a:ea typeface="Outfit"/>
                <a:cs typeface="Outfit"/>
              </a:rPr>
              <a:t>Red + batería LiFePO4. Si se corta la luz, tu casa sigue funcionando. La opción más completa.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54864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300">
                <a:solidFill>
                  <a:srgbClr val="B0B6BE"/>
                </a:solidFill>
                <a:latin typeface="Outfit"/>
                <a:ea typeface="Outfit"/>
                <a:cs typeface="Outfit"/>
              </a:rPr>
              <a:t>IDEAL 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05856" y="548640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AFAF7"/>
                </a:solidFill>
                <a:latin typeface="Outfit"/>
                <a:ea typeface="Outfit"/>
                <a:cs typeface="Outfit"/>
              </a:rPr>
              <a:t>Cortes frecuentes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569671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300">
                <a:solidFill>
                  <a:srgbClr val="B0B6BE"/>
                </a:solidFill>
                <a:latin typeface="Outfit"/>
                <a:ea typeface="Outfit"/>
                <a:cs typeface="Outfit"/>
              </a:rPr>
              <a:t>CUBRE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05856" y="569671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AFAF7"/>
                </a:solidFill>
                <a:latin typeface="Outfit"/>
                <a:ea typeface="Outfit"/>
                <a:cs typeface="Outfit"/>
              </a:rPr>
              <a:t>Día + noche + cortes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62856" y="590702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300">
                <a:solidFill>
                  <a:srgbClr val="B0B6BE"/>
                </a:solidFill>
                <a:latin typeface="Outfit"/>
                <a:ea typeface="Outfit"/>
                <a:cs typeface="Outfit"/>
              </a:rPr>
              <a:t>RESPALDO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05856" y="590702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AFAF7"/>
                </a:solidFill>
                <a:latin typeface="Outfit"/>
                <a:ea typeface="Outfit"/>
                <a:cs typeface="Outfit"/>
              </a:rPr>
              <a:t>Sí · batería 5 kWh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6217920"/>
            <a:ext cx="36941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40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★ RECOMENDADO COUNTRY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8432" y="3520440"/>
            <a:ext cx="3694176" cy="2743200"/>
          </a:xfrm>
          <a:prstGeom prst="roundRect">
            <a:avLst>
              <a:gd name="adj" fmla="val 4000"/>
            </a:avLst>
          </a:prstGeom>
          <a:noFill/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02752" y="3749040"/>
            <a:ext cx="36941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4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OFF-GRID · SIN 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4023360"/>
            <a:ext cx="33284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Independencia total.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4663440"/>
            <a:ext cx="33284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Para zonas rurales sin red. Vivís 100% con sol y batería — sin distribuidora, sin factura.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5486400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3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IDEAL SI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5752" y="548640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Campo / sin 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569671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3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CUBRE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5752" y="569671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Todo el consumo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590702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3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RESPALDO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45752" y="590702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Sí · batería ampliable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3175">
            <a:solidFill>
              <a:srgbClr val="E3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CAPÍTULO 05 · ARQUITECTURAS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nels_aerial.jpg"/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1280160" cy="6773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40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CAPÍTULO 06 · LEY 27.424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5156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A0A6AE"/>
                </a:solidFill>
                <a:latin typeface="Outfit"/>
                <a:ea typeface="Outfit"/>
                <a:cs typeface="Outfit"/>
              </a:rPr>
              <a:t>Argentina, desde 2017.
</a:t>
            </a:r>
            <a:r>
              <a:rPr sz="5600" b="1">
                <a:solidFill>
                  <a:srgbClr val="F5F5F0"/>
                </a:solidFill>
                <a:latin typeface="Outfit"/>
                <a:ea typeface="Outfit"/>
                <a:cs typeface="Outfit"/>
              </a:rPr>
              <a:t>Vos sos un </a:t>
            </a:r>
            <a:r>
              <a:rPr sz="5600" b="1">
                <a:solidFill>
                  <a:srgbClr val="AEFF00"/>
                </a:solidFill>
                <a:latin typeface="Outfit"/>
                <a:ea typeface="Outfit"/>
                <a:cs typeface="Outfit"/>
              </a:rPr>
              <a:t>usuario-generador.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118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La ley te permite generar tu propia energía y venderle los excedentes a la red eléctrica. Se llama balance neto o net-metering: la distribuidora cambia el medidor por uno bidireccional que cuenta los dos flujos — lo que tomás y lo que inyectás.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709160"/>
            <a:ext cx="3694176" cy="1371600"/>
          </a:xfrm>
          <a:prstGeom prst="roundRect">
            <a:avLst>
              <a:gd name="adj" fmla="val 4000"/>
            </a:avLst>
          </a:prstGeom>
          <a:noFill/>
          <a:ln w="6350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8737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120640"/>
            <a:ext cx="33284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5F5F0"/>
                </a:solidFill>
                <a:latin typeface="Outfit"/>
                <a:ea typeface="Outfit"/>
                <a:cs typeface="Outfit"/>
              </a:rPr>
              <a:t>Medidor bidireccional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86400"/>
            <a:ext cx="33284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Cuenta lo que consumís y lo que generás de más. A fin de mes, factura la diferencia.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4709160"/>
            <a:ext cx="3694176" cy="1371600"/>
          </a:xfrm>
          <a:prstGeom prst="roundRect">
            <a:avLst>
              <a:gd name="adj" fmla="val 4000"/>
            </a:avLst>
          </a:prstGeom>
          <a:noFill/>
          <a:ln w="6350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48737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5120640"/>
            <a:ext cx="33284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5F5F0"/>
                </a:solidFill>
                <a:latin typeface="Outfit"/>
                <a:ea typeface="Outfit"/>
                <a:cs typeface="Outfit"/>
              </a:rPr>
              <a:t>Pagás solo la diferencia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5486400"/>
            <a:ext cx="33284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Si generaste más de lo que consumiste, tenés crédito para el mes siguiente.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2" y="4709160"/>
            <a:ext cx="3694176" cy="1371600"/>
          </a:xfrm>
          <a:prstGeom prst="roundRect">
            <a:avLst>
              <a:gd name="adj" fmla="val 4000"/>
            </a:avLst>
          </a:prstGeom>
          <a:noFill/>
          <a:ln w="6350">
            <a:solidFill>
              <a:srgbClr val="232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2" y="48737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5120640"/>
            <a:ext cx="332841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5F5F0"/>
                </a:solidFill>
                <a:latin typeface="Outfit"/>
                <a:ea typeface="Outfit"/>
                <a:cs typeface="Outfit"/>
              </a:rPr>
              <a:t>RV gestiona el trámite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5486400"/>
            <a:ext cx="33284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Nosotros nos encargamos del trámite con tu distribuidora (Edenor, Edesur, EDEN, EDEA…).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172200"/>
            <a:ext cx="1109167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“Una instalación on-grid bien dimensionada se paga sola entre 4 y 6 años — el sistema sigue generando energía gratis 25 años más.”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3175">
            <a:solidFill>
              <a:srgbClr val="232A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CAPÍTULO 06 · MARCO REGULATORIO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28016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4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CAPÍTULO 07 · TU KIT IDEAL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8580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Nuestra recomendación
</a:t>
            </a:r>
            <a:r>
              <a:rPr sz="36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para tu casa en el </a:t>
            </a:r>
            <a:r>
              <a:rPr sz="3600" b="1">
                <a:solidFill>
                  <a:srgbClr val="2952D3"/>
                </a:solidFill>
                <a:latin typeface="Outfit"/>
                <a:ea typeface="Outfit"/>
                <a:cs typeface="Outfit"/>
              </a:rPr>
              <a:t>country.</a:t>
            </a:r>
          </a:p>
        </p:txBody>
      </p:sp>
      <p:pic>
        <p:nvPicPr>
          <p:cNvPr id="5" name="Picture 4" descr="hero_hous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371600"/>
            <a:ext cx="4114800" cy="2560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3611880"/>
            <a:ext cx="6858000" cy="2834640"/>
          </a:xfrm>
          <a:prstGeom prst="roundRect">
            <a:avLst>
              <a:gd name="adj" fmla="val 3000"/>
            </a:avLst>
          </a:prstGeom>
          <a:solidFill>
            <a:srgbClr val="12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40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★ RECOMENDADO · ALWAYS CONNECTED PLUS · 5 kW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AFAF7"/>
                </a:solidFill>
                <a:latin typeface="Outfit"/>
                <a:ea typeface="Outfit"/>
                <a:cs typeface="Outfit"/>
              </a:rPr>
              <a:t>12 paneles · 5 kW · batería 5 kWh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663440"/>
            <a:ext cx="61264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B8BEC6"/>
                </a:solidFill>
                <a:latin typeface="Outfit"/>
                <a:ea typeface="Outfit"/>
                <a:cs typeface="Outfit"/>
              </a:rPr>
              <a:t>Híbrido monofásico con respaldo ante cortes. La configuración estrella para zona norte GBA. Cubre consumo diurno completo (aire, pileta, electrodomésticos), guarda excedente para la noche y mantiene tu casa funcionando si se corta la luz.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AEFF00"/>
                </a:solidFill>
                <a:latin typeface="Outfit"/>
                <a:ea typeface="Outfit"/>
                <a:cs typeface="Outfit"/>
              </a:rPr>
              <a:t>USD 4.399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17220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300">
                <a:solidFill>
                  <a:srgbClr val="B8BEC6"/>
                </a:solidFill>
                <a:latin typeface="Outfit"/>
                <a:ea typeface="Outfit"/>
                <a:cs typeface="Outfit"/>
              </a:rPr>
              <a:t>+ IVA · kit completo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58521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AEFF00"/>
                </a:solidFill>
                <a:latin typeface="Outfit"/>
                <a:ea typeface="Outfit"/>
                <a:cs typeface="Outfit"/>
              </a:rPr>
              <a:t>5–7 años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617220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300">
                <a:solidFill>
                  <a:srgbClr val="B8BEC6"/>
                </a:solidFill>
                <a:latin typeface="Outfit"/>
                <a:ea typeface="Outfit"/>
                <a:cs typeface="Outfit"/>
              </a:rPr>
              <a:t>PAYBACK ESTIMADO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585216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AEFF00"/>
                </a:solidFill>
                <a:latin typeface="Outfit"/>
                <a:ea typeface="Outfit"/>
                <a:cs typeface="Outfit"/>
              </a:rPr>
              <a:t>~7.500 kWh/año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6172200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300">
                <a:solidFill>
                  <a:srgbClr val="B8BEC6"/>
                </a:solidFill>
                <a:latin typeface="Outfit"/>
                <a:ea typeface="Outfit"/>
                <a:cs typeface="Outfit"/>
              </a:rPr>
              <a:t>GENERACIÓN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114800"/>
            <a:ext cx="4114800" cy="2331720"/>
          </a:xfrm>
          <a:prstGeom prst="roundRect">
            <a:avLst>
              <a:gd name="adj" fmla="val 4000"/>
            </a:avLst>
          </a:prstGeom>
          <a:noFill/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297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4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ESPECIFICACIONES TÉCNICAS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61772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3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POTENCIA 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461772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5.000 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965192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3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PANELES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496519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12 × TCL 585 Wp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31266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3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INVERSOR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5312664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GoodWe GW5000-ES-20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66013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3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BATERÍA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5660136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Lynx U · 5 kWh LiFePO4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600760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3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ESPACIO EN TECHO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600760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≈ 31 m²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3175">
            <a:solidFill>
              <a:srgbClr val="E3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CAPÍTULO 07 · TU KIT IDEAL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28016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4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CAPÍTULO 08 · CATÁLOGO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Catálogo residencial </a:t>
            </a:r>
            <a:r>
              <a:rPr sz="4000" b="1">
                <a:solidFill>
                  <a:srgbClr val="2952D3"/>
                </a:solidFill>
                <a:latin typeface="Outfit"/>
                <a:ea typeface="Outfit"/>
                <a:cs typeface="Outfit"/>
              </a:rPr>
              <a:t>2026.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Precios de referencia del kit completo. Conexión monofásica — el formato más común en country.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3611880"/>
            <a:ext cx="11091672" cy="0"/>
          </a:xfrm>
          <a:prstGeom prst="line">
            <a:avLst/>
          </a:prstGeom>
          <a:ln w="6350">
            <a:solidFill>
              <a:srgbClr val="1214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33101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400">
                <a:solidFill>
                  <a:srgbClr val="121418"/>
                </a:solidFill>
                <a:latin typeface="Outfit"/>
                <a:ea typeface="Outfit"/>
                <a:cs typeface="Outfit"/>
              </a:rPr>
              <a:t>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331012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400">
                <a:solidFill>
                  <a:srgbClr val="121418"/>
                </a:solidFill>
                <a:latin typeface="Outfit"/>
                <a:ea typeface="Outfit"/>
                <a:cs typeface="Outfit"/>
              </a:rPr>
              <a:t>TIPO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3101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400">
                <a:solidFill>
                  <a:srgbClr val="121418"/>
                </a:solidFill>
                <a:latin typeface="Outfit"/>
                <a:ea typeface="Outfit"/>
                <a:cs typeface="Outfit"/>
              </a:rPr>
              <a:t>POT.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331012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400">
                <a:solidFill>
                  <a:srgbClr val="121418"/>
                </a:solidFill>
                <a:latin typeface="Outfit"/>
                <a:ea typeface="Outfit"/>
                <a:cs typeface="Outfit"/>
              </a:rPr>
              <a:t>PANELES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331012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400">
                <a:solidFill>
                  <a:srgbClr val="121418"/>
                </a:solidFill>
                <a:latin typeface="Outfit"/>
                <a:ea typeface="Outfit"/>
                <a:cs typeface="Outfit"/>
              </a:rPr>
              <a:t>BATERÍA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310128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400">
                <a:solidFill>
                  <a:srgbClr val="121418"/>
                </a:solidFill>
                <a:latin typeface="Outfit"/>
                <a:ea typeface="Outfit"/>
                <a:cs typeface="Outfit"/>
              </a:rPr>
              <a:t>IDEAL PARA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33101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 spc="400">
                <a:solidFill>
                  <a:srgbClr val="121418"/>
                </a:solidFill>
                <a:latin typeface="Outfit"/>
                <a:ea typeface="Outfit"/>
                <a:cs typeface="Outfit"/>
              </a:rPr>
              <a:t>USD + IVA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4023360"/>
            <a:ext cx="11091672" cy="0"/>
          </a:xfrm>
          <a:prstGeom prst="line">
            <a:avLst/>
          </a:prstGeom>
          <a:ln w="3175">
            <a:solidFill>
              <a:srgbClr val="E3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3703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Economy Basic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37033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On-Grid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7033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3 kW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7033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6 × 585 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703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37033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Familia chica · &lt;400 kWh/mes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37033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1.099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4434840"/>
            <a:ext cx="11091672" cy="0"/>
          </a:xfrm>
          <a:prstGeom prst="line">
            <a:avLst/>
          </a:prstGeom>
          <a:ln w="3175">
            <a:solidFill>
              <a:srgbClr val="E3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411480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Economy Plus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411480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On-Grid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114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5 kW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11480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10 × 585 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11480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11480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Hogar promedio · 400–800 kWh/mes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411480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1.999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4846320"/>
            <a:ext cx="11091672" cy="0"/>
          </a:xfrm>
          <a:prstGeom prst="line">
            <a:avLst/>
          </a:prstGeom>
          <a:ln w="3175">
            <a:solidFill>
              <a:srgbClr val="E3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0080" y="452628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Economy Pro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45262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On-Grid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452628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6 kW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452628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12 × 585 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45262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5262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Alto consumo · 800–1.200 kWh/mes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45262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2.299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48640" y="5257800"/>
            <a:ext cx="11091672" cy="0"/>
          </a:xfrm>
          <a:prstGeom prst="line">
            <a:avLst/>
          </a:prstGeom>
          <a:ln w="3175">
            <a:solidFill>
              <a:srgbClr val="E3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40080" y="49377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Always Connected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34640" y="4937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Híbrido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493776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3 kW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49377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6 × 585 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0" y="49377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Lynx U 5 kWh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0880" y="49377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Country chico · con cortes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49377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3.199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257800"/>
            <a:ext cx="11091672" cy="411480"/>
          </a:xfrm>
          <a:prstGeom prst="roundRect">
            <a:avLst>
              <a:gd name="adj" fmla="val 2000"/>
            </a:avLst>
          </a:prstGeom>
          <a:solidFill>
            <a:srgbClr val="12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5349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AFAF7"/>
                </a:solidFill>
                <a:latin typeface="Outfit"/>
                <a:ea typeface="Outfit"/>
                <a:cs typeface="Outfit"/>
              </a:rPr>
              <a:t>Always Connected Plus 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34640" y="5349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DD3DB"/>
                </a:solidFill>
                <a:latin typeface="Outfit"/>
                <a:ea typeface="Outfit"/>
                <a:cs typeface="Outfit"/>
              </a:rPr>
              <a:t>Híbrido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40480" y="5349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DD3DB"/>
                </a:solidFill>
                <a:latin typeface="Outfit"/>
                <a:ea typeface="Outfit"/>
                <a:cs typeface="Outfit"/>
              </a:rPr>
              <a:t>5 kW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80560" y="534924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DD3DB"/>
                </a:solidFill>
                <a:latin typeface="Outfit"/>
                <a:ea typeface="Outfit"/>
                <a:cs typeface="Outfit"/>
              </a:rPr>
              <a:t>12 × 585 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0" y="5349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DD3DB"/>
                </a:solidFill>
                <a:latin typeface="Outfit"/>
                <a:ea typeface="Outfit"/>
                <a:cs typeface="Outfit"/>
              </a:rPr>
              <a:t>Lynx U 5 kWh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5349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CDD3DB"/>
                </a:solidFill>
                <a:latin typeface="Outfit"/>
                <a:ea typeface="Outfit"/>
                <a:cs typeface="Outfit"/>
              </a:rPr>
              <a:t>Recomendado country · alto consumo + respaldo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534924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FAFAF7"/>
                </a:solidFill>
                <a:latin typeface="Outfit"/>
                <a:ea typeface="Outfit"/>
                <a:cs typeface="Outfit"/>
              </a:rPr>
              <a:t>4.399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48640" y="6080760"/>
            <a:ext cx="11091672" cy="0"/>
          </a:xfrm>
          <a:prstGeom prst="line">
            <a:avLst/>
          </a:prstGeom>
          <a:ln w="3175">
            <a:solidFill>
              <a:srgbClr val="E3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40080" y="57607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Rural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34640" y="576072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Off-Grid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0480" y="576072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3 kW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80560" y="576072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6 × 585 W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0" y="57607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Lynx U 5 kWh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40880" y="57607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Cabaña / fin de semana sin red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966960" y="576072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3.199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17220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spc="2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PRECIOS USD + IVA · KIT COMPLETO (PANELES, INVERSOR, BATERÍA SI APLICA, SMART METER Y CABLEADO). ESTRUCTURA Y MANO DE OBRA COTIZADAS POR SEPARADO SEGÚN RELEVAMIENTO.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3175">
            <a:solidFill>
              <a:srgbClr val="E3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CAPÍTULO 08 · CATÁLOGO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9848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28016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4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CAPÍTULO 09 · PROCESO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7772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8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Una firma. </a:t>
            </a:r>
            <a:r>
              <a:rPr sz="3800" b="1">
                <a:solidFill>
                  <a:srgbClr val="2952D3"/>
                </a:solidFill>
                <a:latin typeface="Outfit"/>
                <a:ea typeface="Outfit"/>
                <a:cs typeface="Outfit"/>
              </a:rPr>
              <a:t>Un Project Manager.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Vos tratás con una sola persona. Nosotros gestionamos a TCL, GoodWe, instaladores y distribuidora — todo bajo nuestro mando.</a:t>
            </a:r>
          </a:p>
        </p:txBody>
      </p:sp>
      <p:pic>
        <p:nvPicPr>
          <p:cNvPr id="6" name="Picture 5" descr="installer_hand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371600"/>
            <a:ext cx="3108960" cy="21031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3611880"/>
            <a:ext cx="2697480" cy="114300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77647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77647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Relevamiento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Visita técnica al techo. Medición de orientación, sombras y espacios.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3611880"/>
            <a:ext cx="2697480" cy="114300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377647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42232" y="377647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Dimensionamiento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411480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Análisis de tus últimas 6 boletas y propuesta del kit óptimo.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3611880"/>
            <a:ext cx="2697480" cy="114300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377647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58584" y="377647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Ingeniería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411480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Memorias de cálculo, planos y trámite con la distribuidora.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892040"/>
            <a:ext cx="2697480" cy="114300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566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505663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Instalación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39496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Montaje completo en el techo. Entre 1 y 3 días de obra.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64992" y="4892040"/>
            <a:ext cx="2697480" cy="114300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93592" y="50566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42232" y="505663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Puesta en marcha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3592" y="539496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Conexión a red, configuración de la app SEMS+ y capacitación.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81344" y="4892040"/>
            <a:ext cx="2697480" cy="114300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9944" y="5056632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58584" y="5056632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Monitoreo 24/7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539496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Seguimiento remoto y post-venta de por vida desde RV.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595360" y="3611880"/>
            <a:ext cx="3108960" cy="1143000"/>
          </a:xfrm>
          <a:prstGeom prst="roundRect">
            <a:avLst>
              <a:gd name="adj" fmla="val 5000"/>
            </a:avLst>
          </a:prstGeom>
          <a:solidFill>
            <a:srgbClr val="295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374904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40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TIEMPO TOTAL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97764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AFAF7"/>
                </a:solidFill>
                <a:latin typeface="Outfit"/>
                <a:ea typeface="Outfit"/>
                <a:cs typeface="Outfit"/>
              </a:rPr>
              <a:t>30 a 60 días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443484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CDD3DB"/>
                </a:solidFill>
                <a:latin typeface="Outfit"/>
                <a:ea typeface="Outfit"/>
                <a:cs typeface="Outfit"/>
              </a:rPr>
              <a:t>Firma a generación · obra 1–3 días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95360" y="4892040"/>
            <a:ext cx="3108960" cy="1143000"/>
          </a:xfrm>
          <a:prstGeom prst="roundRect">
            <a:avLst>
              <a:gd name="adj" fmla="val 5000"/>
            </a:avLst>
          </a:prstGeom>
          <a:solidFill>
            <a:srgbClr val="12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0" y="502920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40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GARANTÍAS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52578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AFAF7"/>
                </a:solidFill>
                <a:latin typeface="Outfit"/>
                <a:ea typeface="Outfit"/>
                <a:cs typeface="Outfit"/>
              </a:rPr>
              <a:t>15 / 30 / 10 años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5715000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CDD3DB"/>
                </a:solidFill>
                <a:latin typeface="Outfit"/>
                <a:ea typeface="Outfit"/>
                <a:cs typeface="Outfit"/>
              </a:rPr>
              <a:t>Panel · potencia · inversor · 6.000 ciclos batería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3175">
            <a:solidFill>
              <a:srgbClr val="E3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CAPÍTULO 09 · PROCESO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9848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1480"/>
            <a:ext cx="1280160" cy="400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4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CAPÍTULO 10 · PREGUNTAS FRECUENTES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Las dudas que aparecen </a:t>
            </a:r>
            <a:r>
              <a:rPr sz="4000" b="1">
                <a:solidFill>
                  <a:srgbClr val="2952D3"/>
                </a:solidFill>
                <a:latin typeface="Outfit"/>
                <a:ea typeface="Outfit"/>
                <a:cs typeface="Outfit"/>
              </a:rPr>
              <a:t>siempre.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00400"/>
            <a:ext cx="2697480" cy="150876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3649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6118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¿Y si está nublado o llueve?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6908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El panel sigue generando — solo que menos. En días nublados produce entre 10% y 30% de su potencia nominal.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3200400"/>
            <a:ext cx="2697480" cy="150876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93592" y="33649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93592" y="36118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¿De noche cómo hago?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406908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Tomás de la red (on-grid) o de la batería (híbrido). Lo que generaste de día y no usaste te lo descuentan.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200400"/>
            <a:ext cx="2697480" cy="150876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9944" y="33649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9944" y="36118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¿Cuánto dura el sistema?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406908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30 años de garantía de potencia en panel, 15 de producto, 10 en inversor (extensible), ~6.000 ciclos en batería.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3200400"/>
            <a:ext cx="2697480" cy="150876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26296" y="33649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6" y="36118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¿En cuánto se paga?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406908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En country zona norte, con Always Connected Plus y consumo medio-alto: entre 5 y 7 años.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46320"/>
            <a:ext cx="2697480" cy="150876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109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57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¿Es seguro tener eso en el techo?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1500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Sí. Paneles IP68, operan de −40 °C a +85 °C, soportan granizo de hasta 25 mm. Estructura certificada.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64992" y="4846320"/>
            <a:ext cx="2697480" cy="150876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93592" y="50109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3592" y="5257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¿Hay que romper el techo?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3592" y="571500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No. La estructura se fija con anclajes específicos según el techo (teja, chapa, losa). Sin filtraciones.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1344" y="4846320"/>
            <a:ext cx="2697480" cy="150876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9944" y="50109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9944" y="5257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¿Necesito permiso del country?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4" y="571500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RV prepara la memoria técnica + renders para presentar al consorcio, y el permiso de la distribuidora.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97696" y="4846320"/>
            <a:ext cx="2697480" cy="1508760"/>
          </a:xfrm>
          <a:prstGeom prst="roundRect">
            <a:avLst>
              <a:gd name="adj" fmla="val 5000"/>
            </a:avLst>
          </a:prstGeom>
          <a:noFill/>
          <a:ln w="6350">
            <a:solidFill>
              <a:srgbClr val="E3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26296" y="50109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200">
                <a:solidFill>
                  <a:srgbClr val="2952D3"/>
                </a:solidFill>
                <a:latin typeface="Outfit"/>
                <a:ea typeface="Outfit"/>
                <a:cs typeface="Outfit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26296" y="525780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21418"/>
                </a:solidFill>
                <a:latin typeface="Outfit"/>
                <a:ea typeface="Outfit"/>
                <a:cs typeface="Outfit"/>
              </a:rPr>
              <a:t>¿Y el mantenimiento?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26296" y="571500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800" b="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Prácticamente cero: limpieza anual y revisión visual. SEMS+ monitorea solo y avisa si algo falla.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3175">
            <a:solidFill>
              <a:srgbClr val="E3E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CAPÍTULO 10 · PREGUNTAS FRECUENTES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9848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555A60"/>
                </a:solidFill>
                <a:latin typeface="Outfit"/>
                <a:ea typeface="Outfit"/>
                <a:cs typeface="Outfit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nel_sky.jpg"/>
          <p:cNvPicPr>
            <a:picLocks noChangeAspect="1"/>
          </p:cNvPicPr>
          <p:nvPr/>
        </p:nvPicPr>
        <p:blipFill>
          <a:blip r:embed="rId2">
            <a:alphaModFix amt="2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1480"/>
            <a:ext cx="1280160" cy="6773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371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40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CIERRE · HABLEMOS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051560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400" b="1">
                <a:solidFill>
                  <a:srgbClr val="F5F5F0"/>
                </a:solidFill>
                <a:latin typeface="Outfit"/>
                <a:ea typeface="Outfit"/>
                <a:cs typeface="Outfit"/>
              </a:rPr>
              <a:t>El sol está </a:t>
            </a:r>
            <a:r>
              <a:rPr sz="6400" b="1">
                <a:solidFill>
                  <a:srgbClr val="AEFF00"/>
                </a:solidFill>
                <a:latin typeface="Outfit"/>
                <a:ea typeface="Outfit"/>
                <a:cs typeface="Outfit"/>
              </a:rPr>
              <a:t>gratis.</a:t>
            </a:r>
          </a:p>
          <a:p>
            <a:pPr algn="l">
              <a:lnSpc>
                <a:spcPct val="115000"/>
              </a:lnSpc>
            </a:pPr>
            <a:r>
              <a:rPr sz="6400" b="1">
                <a:solidFill>
                  <a:srgbClr val="F5F5F0"/>
                </a:solidFill>
                <a:latin typeface="Outfit"/>
                <a:ea typeface="Outfit"/>
                <a:cs typeface="Outfit"/>
              </a:rPr>
              <a:t>La energía, no. </a:t>
            </a:r>
            <a:r>
              <a:rPr sz="6400" b="1">
                <a:solidFill>
                  <a:srgbClr val="AEFF00"/>
                </a:solidFill>
                <a:latin typeface="Outfit"/>
                <a:ea typeface="Outfit"/>
                <a:cs typeface="Outfit"/>
              </a:rPr>
              <a:t>Ahorrá.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Coordinamos una visita técnica a tu casa para medir techo, orientación y consumo. Volvemos con una propuesta detallada, sin compromiso, en menos de 5 días hábiles.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40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TELÉFONO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6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5F5F0"/>
                </a:solidFill>
                <a:latin typeface="Outfit"/>
                <a:ea typeface="Outfit"/>
                <a:cs typeface="Outfit"/>
              </a:rPr>
              <a:t>+54 9 11 4407-6575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424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5F5F0"/>
                </a:solidFill>
                <a:latin typeface="Outfit"/>
                <a:ea typeface="Outfit"/>
                <a:cs typeface="Outfit"/>
              </a:rPr>
              <a:t>+54 9 11 5140-6628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5212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40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EMAIL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5486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5F5F0"/>
                </a:solidFill>
                <a:latin typeface="Outfit"/>
                <a:ea typeface="Outfit"/>
                <a:cs typeface="Outfit"/>
              </a:rPr>
              <a:t>julian.lorenzo@radiovictoria.com.ar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7424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5F5F0"/>
                </a:solidFill>
                <a:latin typeface="Outfit"/>
                <a:ea typeface="Outfit"/>
                <a:cs typeface="Outfit"/>
              </a:rPr>
              <a:t>santiago.basombrio@radiovictoria.com.ar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212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400">
                <a:solidFill>
                  <a:srgbClr val="AEFF00"/>
                </a:solidFill>
                <a:latin typeface="Outfit"/>
                <a:ea typeface="Outfit"/>
                <a:cs typeface="Outfit"/>
              </a:rPr>
              <a:t>OFICINAS ·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486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5F5F0"/>
                </a:solidFill>
                <a:latin typeface="Outfit"/>
                <a:ea typeface="Outfit"/>
                <a:cs typeface="Outfit"/>
              </a:rPr>
              <a:t>Maipú 1210 · Piso 4 · CABA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7424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5F5F0"/>
                </a:solidFill>
                <a:latin typeface="Outfit"/>
                <a:ea typeface="Outfit"/>
                <a:cs typeface="Outfit"/>
              </a:rPr>
              <a:t>www.rvenergia.com.ar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spc="40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ENERGÍA LIMPIA · UN FUTURO BRILLANTE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49224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A0A6AE"/>
                </a:solidFill>
                <a:latin typeface="Outfit"/>
                <a:ea typeface="Outfit"/>
                <a:cs typeface="Outfit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